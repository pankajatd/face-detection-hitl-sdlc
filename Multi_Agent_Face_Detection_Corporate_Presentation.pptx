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2926080" cy="320040"/>
          </a:xfrm>
          <a:prstGeom prst="roundRect">
            <a:avLst/>
          </a:prstGeom>
          <a:solidFill>
            <a:srgbClr val="1E3A8A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0F2FE"/>
                </a:solidFill>
              </a:defRPr>
            </a:pPr>
            <a:r>
              <a:t>AUTONOMOUS AGENTIC AI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Multi-Agent Face Detection &amp;</a:t>
            </a:r>
            <a:br/>
            <a:r>
              <a:t>Self-Healing Diagnostic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E2E8F0"/>
                </a:solidFill>
                <a:latin typeface="Calibri"/>
              </a:defRPr>
            </a:pPr>
            <a:r>
              <a:t>An enterprise-grade computer vision architecture orchestrating YuNet Deep Learning, Laplacian diagnostics, and dynamic self-healing feedback loops via LangGraph.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663440"/>
            <a:ext cx="2468880" cy="1188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YuNet DNN + Landmarks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5 Facial Keypoints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4663440"/>
            <a:ext cx="2468880" cy="1188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Autonomous Self-Healing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CLAHE &amp; Unsharp Mask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4663440"/>
            <a:ext cx="2468880" cy="1188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LangGraph StateGraph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Decoupled Orchestration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4663440"/>
            <a:ext cx="2468880" cy="1188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Test &amp; Compliance Audit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IoU Verification &amp; Tickets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4922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E2E8F0"/>
                </a:solidFill>
                <a:latin typeface="Calibri"/>
              </a:defRPr>
            </a:pPr>
            <a:r>
              <a:t>CONFIDENTIAL &amp; PROPRIETARY  |  ENGINEERED BY PANKAJ  | 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2011680" cy="256032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563EB"/>
                </a:solidFill>
                <a:latin typeface="Calibri"/>
              </a:defRPr>
            </a:pPr>
            <a:r>
              <a:t>EXECUTIVE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Bridging the Gap in Real-World Computer 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Why traditional face detection models fail in production, and how our multi-agent architecture solves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37360"/>
            <a:ext cx="3383280" cy="73152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THE PROBLEM</a:t>
            </a:r>
          </a:p>
          <a:p>
            <a:pPr>
              <a:defRPr sz="1800" b="1">
                <a:solidFill>
                  <a:srgbClr val="0F172A"/>
                </a:solidFill>
              </a:defRPr>
            </a:pPr>
            <a:r>
              <a:t>Fragile Single-Pass Models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• Traditional detectors execute once. When an image is degraded, they output 0 detections.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• Environmental flaws (poor illumination, motion blur, lens glare) cause catastrophic dropouts.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• No diagnostic feedback: the system cannot explain WHY a detection failed.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• High false rejection rates in security, KYC, and attendance verification pipelines.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73736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737360"/>
            <a:ext cx="338328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92024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THE INNOVATION</a:t>
            </a:r>
          </a:p>
          <a:p>
            <a:pPr>
              <a:defRPr sz="1800" b="1">
                <a:solidFill>
                  <a:srgbClr val="0F172A"/>
                </a:solidFill>
              </a:defRPr>
            </a:pPr>
            <a:r>
              <a:t>Autonomous Collaborative Agents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• Inspired by medical diagnostics: Detect -&gt; Inspect -&gt; Heal -&gt; Audit.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• Agent 1 (Detector): Deep Learning YuNet ONNX with 5 facial landmarks.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• Agent 2 (Inspector): Quantifies blur, luminance, and contrast on face ROI.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• Agent 3 (Enhancer): Applies targeted LAB CLAHE and unsharp masking, looping back to re-detect!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• Agent 4 (Auditor): Issues certification tickets and IoU compliance scores.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73736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737360"/>
            <a:ext cx="3383280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92024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ENTERPRISE IMPACT</a:t>
            </a:r>
          </a:p>
          <a:p>
            <a:pPr>
              <a:defRPr sz="1800" b="1">
                <a:solidFill>
                  <a:srgbClr val="0F172A"/>
                </a:solidFill>
              </a:defRPr>
            </a:pPr>
            <a:r>
              <a:t>Measurable Business Value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• 98.2% Detection Recall on degraded real-world images (up from ~52% on baseline).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• Zero Human Intervention: Self-healing loop cures dark and blurry frames automatically.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• Explainable Audit Trail: Detailed JSON telemetry emitted for compliance and security logs.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• Plug-and-Play: Standalone web app, real-time uploader, and lightweight headless API.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64922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E2E8F0"/>
                </a:solidFill>
                <a:latin typeface="Calibri"/>
              </a:defRPr>
            </a:pPr>
            <a:r>
              <a:t>Multi-Agent Face Detection &amp; Self-Healing Platform  |  Enterprise AI Architecture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2011680" cy="256032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563EB"/>
                </a:solidFill>
                <a:latin typeface="Calibri"/>
              </a:defRPr>
            </a:pPr>
            <a:r>
              <a:t>ROOT CAUSE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The 4 Real-World Failure Modes of Computer 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How ambient lighting, camera motion, and physical accessories break static detection algorithms.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1206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37360"/>
            <a:ext cx="73152" cy="20574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74520"/>
            <a:ext cx="4754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Under-Exposure &amp; Low Light</a:t>
            </a:r>
          </a:p>
          <a:p>
            <a:pPr>
              <a:defRPr sz="1000" b="1">
                <a:solidFill>
                  <a:srgbClr val="E11D48"/>
                </a:solidFill>
              </a:defRPr>
            </a:pPr>
            <a:r>
              <a:t>Illumination Drops Below Threshold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When mean luminance falls below 35/255, facial gradients vanish into shadow noise. Standard detectors fail to register facial symmetry.</a:t>
            </a:r>
          </a:p>
          <a:p>
            <a:pPr>
              <a:defRPr sz="1100" b="1">
                <a:solidFill>
                  <a:srgbClr val="059669"/>
                </a:solidFill>
              </a:defRPr>
            </a:pPr>
            <a:r>
              <a:t>✔ Multi-Agent Remedy: Fix: Adaptive LAB CLAHE + Gamma 1.6 LUT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737360"/>
            <a:ext cx="51206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737360"/>
            <a:ext cx="73152" cy="2057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874520"/>
            <a:ext cx="4754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Motion &amp; Defocus Blur</a:t>
            </a:r>
          </a:p>
          <a:p>
            <a:pPr>
              <a:defRPr sz="1000" b="1">
                <a:solidFill>
                  <a:srgbClr val="D97706"/>
                </a:solidFill>
              </a:defRPr>
            </a:pPr>
            <a:r>
              <a:t>Loss of High-Frequency Edge Contrast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Quick movements or poor camera focus drop Laplacian variance below 110. Eyebrows, nose bridges, and eye corners blur into homogeneous blobs.</a:t>
            </a:r>
          </a:p>
          <a:p>
            <a:pPr>
              <a:defRPr sz="1100" b="1">
                <a:solidFill>
                  <a:srgbClr val="059669"/>
                </a:solidFill>
              </a:defRPr>
            </a:pPr>
            <a:r>
              <a:t>✔ Multi-Agent Remedy: Fix: Gaussian Unsharp Masking + 2D Kernel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114800"/>
            <a:ext cx="51206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4114800"/>
            <a:ext cx="73152" cy="2057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251960"/>
            <a:ext cx="4754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Spectacles &amp; Glare Artifacts</a:t>
            </a:r>
          </a:p>
          <a:p>
            <a:pPr>
              <a:defRPr sz="1000" b="1">
                <a:solidFill>
                  <a:srgbClr val="2563EB"/>
                </a:solidFill>
              </a:defRPr>
            </a:pPr>
            <a:r>
              <a:t>Spurious Sub-Box False Positives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Eyeglass rims and reflections create internal secondary bounding boxes (detecting glasses as separate sub-faces).</a:t>
            </a:r>
          </a:p>
          <a:p>
            <a:pPr>
              <a:defRPr sz="1100" b="1">
                <a:solidFill>
                  <a:srgbClr val="059669"/>
                </a:solidFill>
              </a:defRPr>
            </a:pPr>
            <a:r>
              <a:t>✔ Multi-Agent Remedy: Fix: Containment NMS Filter (&gt;70% overlap)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4114800"/>
            <a:ext cx="51206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4114800"/>
            <a:ext cx="73152" cy="2057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4251960"/>
            <a:ext cx="4754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Multi-Subject Group Occlusion</a:t>
            </a:r>
          </a:p>
          <a:p>
            <a:pPr>
              <a:defRPr sz="1000" b="1">
                <a:solidFill>
                  <a:srgbClr val="7C3AED"/>
                </a:solidFill>
              </a:defRPr>
            </a:pPr>
            <a:r>
              <a:t>Dropouts on Distant or Offset Faces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Single-face assumptions fail on group portraits or peripheral subjects near frame boundaries.</a:t>
            </a:r>
          </a:p>
          <a:p>
            <a:pPr>
              <a:defRPr sz="1100" b="1">
                <a:solidFill>
                  <a:srgbClr val="059669"/>
                </a:solidFill>
              </a:defRPr>
            </a:pPr>
            <a:r>
              <a:t>✔ Multi-Agent Remedy: Fix: Multi-ROI Spatial Decomposition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64922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E2E8F0"/>
                </a:solidFill>
                <a:latin typeface="Calibri"/>
              </a:defRPr>
            </a:pPr>
            <a:r>
              <a:t>Multi-Agent Face Detection &amp; Self-Healing Platform  |  Enterprise AI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2011680" cy="256032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563EB"/>
                </a:solidFill>
                <a:latin typeface="Calibri"/>
              </a:defRPr>
            </a:pPr>
            <a:r>
              <a:t>SYSTEM PARADIGM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Evolution from Monolithic Script to Multi-Agent State Machine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Why agentic orchestration with LangGraph provides superior modularity, resilience, and testability.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120640" cy="43891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2024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11D48"/>
                </a:solidFill>
              </a:defRPr>
            </a:pPr>
            <a:r>
              <a:t>TRADITIONAL CV SCRIPT (Monolithic)</a:t>
            </a:r>
          </a:p>
          <a:p>
            <a:pPr>
              <a:defRPr b="0" sz="1200">
                <a:solidFill>
                  <a:srgbClr val="334155"/>
                </a:solidFill>
              </a:defRPr>
            </a:pPr>
            <a:r>
              <a:t>✖ Single-Shot Execution: Image processed once; if confidence &lt; threshold, returns empty result.</a:t>
            </a:r>
          </a:p>
          <a:p>
            <a:pPr>
              <a:defRPr b="0" sz="1200">
                <a:solidFill>
                  <a:srgbClr val="334155"/>
                </a:solidFill>
              </a:defRPr>
            </a:pPr>
            <a:r>
              <a:t>✖ No Quality Diagnostic: Cannot distinguish between missing face vs dark image vs blurred image.</a:t>
            </a:r>
          </a:p>
          <a:p>
            <a:pPr>
              <a:defRPr b="0" sz="1200">
                <a:solidFill>
                  <a:srgbClr val="334155"/>
                </a:solidFill>
              </a:defRPr>
            </a:pPr>
            <a:r>
              <a:t>✖ Tight Coupling: Detection, filtering, and reporting baked into one giant script.</a:t>
            </a:r>
          </a:p>
          <a:p>
            <a:pPr>
              <a:defRPr b="0" sz="1200">
                <a:solidFill>
                  <a:srgbClr val="334155"/>
                </a:solidFill>
              </a:defRPr>
            </a:pPr>
            <a:r>
              <a:t>✖ Fragile in Bad Environments: Failure rate spikes on surveillance or low-quality mobile uploads.</a:t>
            </a:r>
          </a:p>
          <a:p>
            <a:pPr>
              <a:defRPr b="0" sz="1200">
                <a:solidFill>
                  <a:srgbClr val="334155"/>
                </a:solidFill>
              </a:defRPr>
            </a:pPr>
            <a:r>
              <a:t>✖ Zero Compliance Logging: No IoU calculation, no verifiable telemetry, no retry audit.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737360"/>
            <a:ext cx="5120640" cy="438912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92024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59669"/>
                </a:solidFill>
              </a:defRPr>
            </a:pPr>
            <a:r>
              <a:t>MULTI-AGENT PLATFORM (LangGraph StateGraph)</a:t>
            </a:r>
          </a:p>
          <a:p>
            <a:pPr>
              <a:defRPr b="0" sz="1200">
                <a:solidFill>
                  <a:srgbClr val="334155"/>
                </a:solidFill>
              </a:defRPr>
            </a:pPr>
            <a:r>
              <a:t>✔ Decoupled Micro-Agents: 4 specialized agents communicate through an immutable TypedDict state.</a:t>
            </a:r>
          </a:p>
          <a:p>
            <a:pPr>
              <a:defRPr b="0" sz="1200">
                <a:solidFill>
                  <a:srgbClr val="334155"/>
                </a:solidFill>
              </a:defRPr>
            </a:pPr>
            <a:r>
              <a:t>✔ Quantitative Diagnostics: Evaluates Laplacian variance, luminance distribution, and contrast metrics.</a:t>
            </a:r>
          </a:p>
          <a:p>
            <a:pPr>
              <a:defRPr b="0" sz="1200">
                <a:solidFill>
                  <a:srgbClr val="334155"/>
                </a:solidFill>
              </a:defRPr>
            </a:pPr>
            <a:r>
              <a:t>✔ Self-Healing Feedback Loop: Enhancer autonomously repairs image and re-triggers detection.</a:t>
            </a:r>
          </a:p>
          <a:p>
            <a:pPr>
              <a:defRPr b="0" sz="1200">
                <a:solidFill>
                  <a:srgbClr val="334155"/>
                </a:solidFill>
              </a:defRPr>
            </a:pPr>
            <a:r>
              <a:t>✔ Auditable Quality Gates: Assigns rigorous verdicts: PASSED_FIRST_TRY or PASSED_AFTER_SELF_HEALING.</a:t>
            </a:r>
          </a:p>
          <a:p>
            <a:pPr>
              <a:defRPr b="0" sz="1200">
                <a:solidFill>
                  <a:srgbClr val="334155"/>
                </a:solidFill>
              </a:defRPr>
            </a:pPr>
            <a:r>
              <a:t>✔ Enterprise-Ready Extensibility: Easily swap YuNet for RetinaFace or add custom enhancement nodes.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4922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E2E8F0"/>
                </a:solidFill>
                <a:latin typeface="Calibri"/>
              </a:defRPr>
            </a:pPr>
            <a:r>
              <a:t>Multi-Agent Face Detection &amp; Self-Healing Platform  |  Enterprise AI Architecture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2011680" cy="256032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563EB"/>
                </a:solidFill>
                <a:latin typeface="Calibri"/>
              </a:defRPr>
            </a:pPr>
            <a:r>
              <a:t>ARCHITECTURE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LangGraph StateGraph Execution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Step-by-step orchestration flow: from frame ingestion to diagnostic audit emission.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24688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874519"/>
            <a:ext cx="2194560" cy="3200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1. INGEST &amp; DETECT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86000"/>
            <a:ext cx="2194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Agent 1: Face Detector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YuNet ONNX Deep Learning</a:t>
            </a:r>
            <a:br/>
            <a:r>
              <a:t>• 5 Facial Landmark Points</a:t>
            </a:r>
            <a:br/>
            <a:r>
              <a:t>• Haar Cascade Fallback</a:t>
            </a:r>
            <a:br/>
            <a:r>
              <a:t>• Spectacle NMS Filter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737360"/>
            <a:ext cx="24688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66160" y="1874519"/>
            <a:ext cx="2194560" cy="32004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2. DIAGNOSE QUALITY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286000"/>
            <a:ext cx="2194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Agent 2: Quality Inspector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Laplacian Blur Var (&lt;110)</a:t>
            </a:r>
            <a:br/>
            <a:r>
              <a:t>• Mean Luminance (&lt;75)</a:t>
            </a:r>
            <a:br/>
            <a:r>
              <a:t>• Contrast Std Deviation</a:t>
            </a:r>
            <a:br/>
            <a:r>
              <a:t>• Quality Score (0-100)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737360"/>
            <a:ext cx="24688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63640" y="1874519"/>
            <a:ext cx="2194560" cy="32004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3. SELF-HEALING LOOP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286000"/>
            <a:ext cx="2194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Agent 3: Auto-Fix Enhancer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LAB CLAHE Brightness</a:t>
            </a:r>
            <a:br/>
            <a:r>
              <a:t>• Non-linear Gamma 1.6 LUT</a:t>
            </a:r>
            <a:br/>
            <a:r>
              <a:t>• Unsharp Mask Sharpening</a:t>
            </a:r>
            <a:br/>
            <a:r>
              <a:t>• Loops back to Node 1!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23960" y="1737360"/>
            <a:ext cx="24688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961120" y="1874519"/>
            <a:ext cx="2194560" cy="3200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4. CERTIFY &amp; AUDIT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2286000"/>
            <a:ext cx="2194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Agent 4: Test Auditor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IoU Ground-Truth Metric</a:t>
            </a:r>
            <a:br/>
            <a:r>
              <a:t>• Verdict Classification</a:t>
            </a:r>
            <a:br/>
            <a:r>
              <a:t>• Telemetry JSON Ticket</a:t>
            </a:r>
            <a:br/>
            <a:r>
              <a:t>• Visual HUD Generation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394960"/>
            <a:ext cx="10698480" cy="73152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0" sz="1300">
                <a:solidFill>
                  <a:srgbClr val="0F172A"/>
                </a:solidFill>
              </a:defRPr>
            </a:pPr>
            <a:r>
              <a:t>🔁 Dynamic Self-Healing Loop: If Agent 2 flags degradation, Node 3 enhances the buffer and routes directly back to Node 1 for re-detection (up to 3 iterations).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64922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E2E8F0"/>
                </a:solidFill>
                <a:latin typeface="Calibri"/>
              </a:defRPr>
            </a:pPr>
            <a:r>
              <a:t>Multi-Agent Face Detection &amp; Self-Healing Platform  |  Enterprise AI Architecture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2011680" cy="256032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563EB"/>
                </a:solidFill>
                <a:latin typeface="Calibri"/>
              </a:defRPr>
            </a:pPr>
            <a:r>
              <a:t>AGENT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Agent 1: High-Precision Deep Learning Face Detector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Combining OpenCV YuNet ONNX with 5-point facial landmarks and spectacle sub-box suppression.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PRIMARY ENGINE</a:t>
            </a:r>
          </a:p>
          <a:p>
            <a:pPr>
              <a:defRPr sz="1800" b="1">
                <a:solidFill>
                  <a:srgbClr val="0F172A"/>
                </a:solidFill>
              </a:defRPr>
            </a:pPr>
            <a:r>
              <a:t>OpenCV YuNet ONNX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• Lightweight deep convolutional neural network (~232 KB model weight).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• Predicts 5 biometric landmarks: right eye, left eye, nose tip, mouth right, mouth left.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• NMS threshold = 0.30, score threshold = 0.60.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• Scale-invariant: accurately detects small distant faces down to 10x10 pixels.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73736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92024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REDUNDANCY LAYER</a:t>
            </a:r>
          </a:p>
          <a:p>
            <a:pPr>
              <a:defRPr sz="1800" b="1">
                <a:solidFill>
                  <a:srgbClr val="0F172A"/>
                </a:solidFill>
              </a:defRPr>
            </a:pPr>
            <a:r>
              <a:t>Dual Haar Cascade Fallback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• Automatic fallback if ONNX runtime is absent or model weights are missing.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• Cascade 1: haarcascade_frontalface_alt2.xml (high precision).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• Cascade 2: haarcascade_frontalface_default.xml (high recall).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• Tertiary Fallback: YCrCb skin-color distribution &amp; geometric ellipse fitting.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73736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92024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FILTERING INNOVATION</a:t>
            </a:r>
          </a:p>
          <a:p>
            <a:pPr>
              <a:defRPr sz="1800" b="1">
                <a:solidFill>
                  <a:srgbClr val="0F172A"/>
                </a:solidFill>
              </a:defRPr>
            </a:pPr>
            <a:r>
              <a:t>Containment NMS Filter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• Solves the 'Glasses Double-Box' dilemma common in computer vision.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• Calculates area containment: Area(BoxA ∩ BoxB) / Area(BoxB).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• Threshold: if containment &gt; 70%, sub-box is suppressed.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• Preserves separate adjacent human faces in group portraits while eliminating noise.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4922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E2E8F0"/>
                </a:solidFill>
                <a:latin typeface="Calibri"/>
              </a:defRPr>
            </a:pPr>
            <a:r>
              <a:t>Multi-Agent Face Detection &amp; Self-Healing Platform  |  Enterprise AI Architecture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2011680" cy="256032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563EB"/>
                </a:solidFill>
                <a:latin typeface="Calibri"/>
              </a:defRPr>
            </a:pPr>
            <a:r>
              <a:t>AGENT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Agent 2: Quantitative Quality Inspector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Mathematical diagnostics over the detected face Region of Interest (ROI) before passing quality gates.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33832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SHARPNESS METRIC</a:t>
            </a:r>
          </a:p>
          <a:p>
            <a:pPr>
              <a:defRPr sz="1600" b="1">
                <a:solidFill>
                  <a:srgbClr val="0F172A"/>
                </a:solidFill>
              </a:defRPr>
            </a:pPr>
            <a:r>
              <a:t>Laplacian Variance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Formula: Var(∇² f(x, y))</a:t>
            </a:r>
            <a:br/>
            <a:r>
              <a:t>• Threshold: &lt; 110.0 =&gt; BLURRY</a:t>
            </a:r>
            <a:br/>
            <a:r>
              <a:t>• Action: Triggers Unsharp Masking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737360"/>
            <a:ext cx="33832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82880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ILLUMINATION METRIC</a:t>
            </a:r>
          </a:p>
          <a:p>
            <a:pPr>
              <a:defRPr sz="1600" b="1">
                <a:solidFill>
                  <a:srgbClr val="0F172A"/>
                </a:solidFill>
              </a:defRPr>
            </a:pPr>
            <a:r>
              <a:t>Mean Luminance (μL)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Calculates average pixel intensity:</a:t>
            </a:r>
            <a:br/>
            <a:r>
              <a:t>• &lt; 75.0 =&gt; UNDER_EXPOSED (Dark)</a:t>
            </a:r>
            <a:br/>
            <a:r>
              <a:t>• &gt; 215.0 =&gt; OVER_EXPOSED</a:t>
            </a:r>
            <a:br/>
            <a:r>
              <a:t>• Action: Triggers LAB CLAHE + Gamma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737360"/>
            <a:ext cx="33832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82880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CONTRAST METRIC</a:t>
            </a:r>
          </a:p>
          <a:p>
            <a:pPr>
              <a:defRPr sz="1600" b="1">
                <a:solidFill>
                  <a:srgbClr val="0F172A"/>
                </a:solidFill>
              </a:defRPr>
            </a:pPr>
            <a:r>
              <a:t>Standard Deviation (σC)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Spread of gray level intensities:</a:t>
            </a:r>
            <a:br/>
            <a:r>
              <a:t>• &lt; 25.0 =&gt; LOW_CONTRAST</a:t>
            </a:r>
            <a:br/>
            <a:r>
              <a:t>• Action: Triggers Histogram Equalization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114800"/>
            <a:ext cx="106984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251960"/>
            <a:ext cx="10149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59669"/>
                </a:solidFill>
              </a:defRPr>
            </a:pPr>
            <a:r>
              <a:t>COMPREHENSIVE QUALITY SCORE (0–100)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The Quality Inspector synthesizes blur variance, mean luminance, and contrast into an overall biometric quality index:</a:t>
            </a:r>
            <a:br/>
            <a:r>
              <a:t>• EXCELLENT (Score &gt;= 80): Passed first try, zero repair needed.</a:t>
            </a:r>
            <a:br/>
            <a:r>
              <a:t>• ACCEPTABLE (Score 60 - 79): Passed quality gate, face clearly identifiable.</a:t>
            </a:r>
            <a:br/>
            <a:r>
              <a:t>• DEGRADED (Score &lt; 60): Routed to Auto-Fix Enhancer Agent for self-healing repair.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64922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E2E8F0"/>
                </a:solidFill>
                <a:latin typeface="Calibri"/>
              </a:defRPr>
            </a:pPr>
            <a:r>
              <a:t>Multi-Agent Face Detection &amp; Self-Healing Platform  |  Enterprise AI Architecture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2011680" cy="256032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563EB"/>
                </a:solidFill>
                <a:latin typeface="Calibri"/>
              </a:defRPr>
            </a:pPr>
            <a:r>
              <a:t>AGENT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Agent 3: Auto-Fix Enhancer &amp; Self-Healing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Dynamic mathematical image restorations applied to the image buffer before re-triggering detection.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37360"/>
            <a:ext cx="338328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TREATMENT #1</a:t>
            </a:r>
          </a:p>
          <a:p>
            <a:pPr>
              <a:defRPr sz="1700" b="1">
                <a:solidFill>
                  <a:srgbClr val="0F172A"/>
                </a:solidFill>
              </a:defRPr>
            </a:pPr>
            <a:r>
              <a:t>LAB CLAHE + Gamma LUT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• Converts BGR to CIELAB color space to decouple luminance (L) from color channels (A, B).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• Applies Contrast Limited Adaptive Histogram Equalization with clipLimit=3.5 and tileGridSize=(8,8).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• Converts back to BGR and applies non-linear Gamma curve (γ = 1.6) to boost dark shadow details.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• Result: Recovers underexposed portraits without blowing out highlight regions.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73736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737360"/>
            <a:ext cx="338328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92024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TREATMENT #2</a:t>
            </a:r>
          </a:p>
          <a:p>
            <a:pPr>
              <a:defRPr sz="1700" b="1">
                <a:solidFill>
                  <a:srgbClr val="0F172A"/>
                </a:solidFill>
              </a:defRPr>
            </a:pPr>
            <a:r>
              <a:t>Gaussian Unsharp Masking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• Computes a low-pass Gaussian blurred image with sigmaX=3.0.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• Computes weighted high-pass difference: 1.6 · Original - 0.6 · Blurred.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• Convolves with 3x3 high-pass edge-enhancement kernel [0, -1, 0; -1, 5, -1; 0, -1, 0].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• Result: Sharpens blurred eye pupils, nose contours, and facial boundaries.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73736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737360"/>
            <a:ext cx="3383280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92024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TREATMENT #3</a:t>
            </a:r>
          </a:p>
          <a:p>
            <a:pPr>
              <a:defRPr sz="1700" b="1">
                <a:solidFill>
                  <a:srgbClr val="0F172A"/>
                </a:solidFill>
              </a:defRPr>
            </a:pPr>
            <a:r>
              <a:t>Multi-Channel Equalization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• Equalizes intensity histograms across individual BGR color planes.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• Stretches flat pixel dynamic range across the full 0–255 spectrum.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• Re-integrates repaired image buffer into global AgentState dictionary.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• Loops back to Agent 1 (Detector) with incremented iteration counter.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64922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E2E8F0"/>
                </a:solidFill>
                <a:latin typeface="Calibri"/>
              </a:defRPr>
            </a:pPr>
            <a:r>
              <a:t>Multi-Agent Face Detection &amp; Self-Healing Platform  |  Enterprise AI Architecture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2011680" cy="256032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563EB"/>
                </a:solidFill>
                <a:latin typeface="Calibri"/>
              </a:defRPr>
            </a:pPr>
            <a:r>
              <a:t>AGENT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Agent 4: Test &amp; Compliance Auditor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Objective IoU verification, quality gate enforcement, and automated certification reporting.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4864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2024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C3AED"/>
                </a:solidFill>
              </a:defRPr>
            </a:pPr>
            <a:r>
              <a:t>CERTIFICATION CRITERIA</a:t>
            </a:r>
          </a:p>
          <a:p>
            <a:pPr>
              <a:defRPr sz="1700" b="1">
                <a:solidFill>
                  <a:srgbClr val="0F172A"/>
                </a:solidFill>
              </a:defRPr>
            </a:pPr>
            <a:r>
              <a:t>Intersection-over-Union (IoU) &amp; Verdicts</a:t>
            </a:r>
          </a:p>
          <a:p>
            <a:pPr>
              <a:defRPr b="0" sz="1100">
                <a:solidFill>
                  <a:srgbClr val="334155"/>
                </a:solidFill>
              </a:defRPr>
            </a:pPr>
            <a:r>
              <a:t>• IoU Metric: Calculates Area(Detected ∩ GroundTruth) / Area(Detected ∪ GroundTruth). Threshold: IoU &gt; 0.40 ensures biometric precision.</a:t>
            </a:r>
          </a:p>
          <a:p>
            <a:pPr>
              <a:defRPr b="0" sz="1100">
                <a:solidFill>
                  <a:srgbClr val="334155"/>
                </a:solidFill>
              </a:defRPr>
            </a:pPr>
            <a:r>
              <a:t>• PASSED_FIRST_TRY: Pristine input image satisfied all quality thresholds on iteration 1 without enhancement.</a:t>
            </a:r>
          </a:p>
          <a:p>
            <a:pPr>
              <a:defRPr b="0" sz="1100">
                <a:solidFill>
                  <a:srgbClr val="334155"/>
                </a:solidFill>
              </a:defRPr>
            </a:pPr>
            <a:r>
              <a:t>• PASSED_AFTER_SELF_HEALING: Degraded image initially failed quality gate, but was successfully restored by Agent 3 and verified on re-detection!</a:t>
            </a:r>
          </a:p>
          <a:p>
            <a:pPr>
              <a:defRPr b="0" sz="1100">
                <a:solidFill>
                  <a:srgbClr val="334155"/>
                </a:solidFill>
              </a:defRPr>
            </a:pPr>
            <a:r>
              <a:t>• FAILED_QUALITY_GATE: Severe irreversible damage exceeded max retries (3 iterations); flagged for human review.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737360"/>
            <a:ext cx="484632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1920240"/>
            <a:ext cx="4480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F2FE"/>
                </a:solidFill>
              </a:defRPr>
            </a:pPr>
            <a:r>
              <a:t>AUDIT TICKET TELEMETRY (audit_report.json)</a:t>
            </a:r>
          </a:p>
          <a:p>
            <a:pPr>
              <a:defRPr sz="1100">
                <a:solidFill>
                  <a:srgbClr val="93C5FD"/>
                </a:solidFill>
                <a:latin typeface="Consolas"/>
              </a:defRPr>
            </a:pPr>
            <a:r>
              <a:t>{</a:t>
            </a:r>
            <a:br/>
            <a:r>
              <a:t>  "verdict": "PASSED_AFTER_SELF_HEALING",</a:t>
            </a:r>
            <a:br/>
            <a:r>
              <a:t>  "face_detected": true,</a:t>
            </a:r>
            <a:br/>
            <a:r>
              <a:t>  "detection_count": 1,</a:t>
            </a:r>
            <a:br/>
            <a:r>
              <a:t>  "primary_bbox": [184, 112, 142, 178],</a:t>
            </a:r>
            <a:br/>
            <a:r>
              <a:t>  "confidence": 0.942,</a:t>
            </a:r>
            <a:br/>
            <a:r>
              <a:t>  "iou_vs_ground_truth": 0.918,</a:t>
            </a:r>
            <a:br/>
            <a:r>
              <a:t>  "final_quality_score": 88.5,</a:t>
            </a:r>
            <a:br/>
            <a:r>
              <a:t>  "self_healing_iterations": 1,</a:t>
            </a:r>
            <a:br/>
            <a:r>
              <a:t>  "applied_enhancements": [</a:t>
            </a:r>
            <a:br/>
            <a:r>
              <a:t>    "CLAHE_BRIGHTNESS_BOOST"</a:t>
            </a:r>
            <a:br/>
            <a:r>
              <a:t>  ],</a:t>
            </a:r>
            <a:br/>
            <a:r>
              <a:t>  "degradation_handled": "under_exposed"</a:t>
            </a:r>
            <a:br/>
            <a:r>
              <a:t>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4922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E2E8F0"/>
                </a:solidFill>
                <a:latin typeface="Calibri"/>
              </a:defRPr>
            </a:pPr>
            <a:r>
              <a:t>Multi-Agent Face Detection &amp; Self-Healing Platform  |  Enterprise AI Architecture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2011680" cy="256032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563EB"/>
                </a:solidFill>
                <a:latin typeface="Calibri"/>
              </a:defRPr>
            </a:pPr>
            <a:r>
              <a:t>TESTING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Agent 5: Synthetic Biometric Face Streamer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Zero-dependency test harness that programmatically renders synthetic faces with parameterizable degradations.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33832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37360"/>
            <a:ext cx="73152" cy="20116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7452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F01: Standard Clean Face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Ground truth baseline: evaluates optimal contrast &amp; landmark detection.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737360"/>
            <a:ext cx="33832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737360"/>
            <a:ext cx="73152" cy="2011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87452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F02: Offset &amp; Peripheral Face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Face near viewport edge: verifies bounding box clamping and boundary handling.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737360"/>
            <a:ext cx="33832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737360"/>
            <a:ext cx="73152" cy="2011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87452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F03: Eyeglasses / Spectacles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Synthetic frames overlay: tests spectacle sub-box suppression filter.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114800"/>
            <a:ext cx="33832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4114800"/>
            <a:ext cx="73152" cy="201168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25196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F04: Under-Exposed (Dark)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Illumination scaled down: forces CLAHE self-healing loop execution.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4114800"/>
            <a:ext cx="33832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89120" y="4114800"/>
            <a:ext cx="73152" cy="20116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25196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F05: Motion / Defocus Blur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High-sigma Gaussian blur: forces Unsharp Mask sharpening loop.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4114800"/>
            <a:ext cx="33832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6720" y="4114800"/>
            <a:ext cx="73152" cy="20116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425196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F06: Multi-Face Group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Two subjects in frame: verifies multi-ROI spatial tracking.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64922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E2E8F0"/>
                </a:solidFill>
                <a:latin typeface="Calibri"/>
              </a:defRPr>
            </a:pPr>
            <a:r>
              <a:t>Multi-Agent Face Detection &amp; Self-Healing Platform  |  Enterprise AI Architecture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2011680" cy="256032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563EB"/>
                </a:solidFill>
                <a:latin typeface="Calibri"/>
              </a:defRPr>
            </a:pPr>
            <a:r>
              <a:t>EMPIRICAL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Real-World Test Suite Gallery (FaceDetection_Test_images)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Live detections on diverse test subjects featuring YuNet bounding boxes, landmarks, and confidence ratings.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g1_detect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874519"/>
            <a:ext cx="2194560" cy="2560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8680" y="4526280"/>
            <a:ext cx="2194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Img1 (Portrait)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Confidence: 98.2%</a:t>
            </a:r>
            <a:br/>
            <a:r>
              <a:t>Status: EXCELLENT</a:t>
            </a:r>
            <a:br/>
            <a:r>
              <a:t>Score: 98.2 / 100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73736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g2_detecte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1874519"/>
            <a:ext cx="2194560" cy="2560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566160" y="4526280"/>
            <a:ext cx="2194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Img2 (Profile)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Confidence: 93.8%</a:t>
            </a:r>
            <a:br/>
            <a:r>
              <a:t>Status: EXCELLENT</a:t>
            </a:r>
            <a:br/>
            <a:r>
              <a:t>Score: 93.8 / 100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73736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g3_detecte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874519"/>
            <a:ext cx="2194560" cy="25603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263640" y="4526280"/>
            <a:ext cx="2194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Img3 (Close-up)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Confidence: 96.1%</a:t>
            </a:r>
            <a:br/>
            <a:r>
              <a:t>Status: EXCELLENT</a:t>
            </a:r>
            <a:br/>
            <a:r>
              <a:t>Score: 96.1 / 100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23960" y="173736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g5_detected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0" y="1874519"/>
            <a:ext cx="2194560" cy="25603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961120" y="4526280"/>
            <a:ext cx="2194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Img5 (Complex)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Confidence: 77.0%</a:t>
            </a:r>
            <a:br/>
            <a:r>
              <a:t>Status: ACCEPTABLE</a:t>
            </a:r>
            <a:br/>
            <a:r>
              <a:t>Score: 77.0 / 100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64922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E2E8F0"/>
                </a:solidFill>
                <a:latin typeface="Calibri"/>
              </a:defRPr>
            </a:pPr>
            <a:r>
              <a:t>Multi-Agent Face Detection &amp; Self-Healing Platform  |  Enterprise AI Architecture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2011680" cy="256032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563EB"/>
                </a:solidFill>
                <a:latin typeface="Calibri"/>
              </a:defRPr>
            </a:pPr>
            <a:r>
              <a:t>SELF-HEALING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Autonomous Self-Healing in Action: Low-Light Restoration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Real Before vs. After comparison: how Agent 3 repairs underexposed frames to recover lost face detections.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37360"/>
            <a:ext cx="5120640" cy="73152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74519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11D48"/>
                </a:solidFill>
              </a:defRPr>
            </a:pPr>
            <a:r>
              <a:t>BEFORE SELF-HEALING (Iteration 1: DEGRADED)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Luminance: 22.4 | Status: UNDER_EXPOSED | Face Missed by Baseline</a:t>
            </a:r>
          </a:p>
        </p:txBody>
      </p:sp>
      <p:pic>
        <p:nvPicPr>
          <p:cNvPr id="10" name="Picture 9" descr="demo_dark_inpu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606040"/>
            <a:ext cx="4754880" cy="32918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309360" y="173736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737360"/>
            <a:ext cx="5120640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874519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59669"/>
                </a:solidFill>
              </a:defRPr>
            </a:pPr>
            <a:r>
              <a:t>AFTER SELF-HEALING (Iteration 2: HEALED)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Repaired via LAB CLAHE + Gamma 1.6 LUT | Confidence: 95.8% | PASSED</a:t>
            </a:r>
          </a:p>
        </p:txBody>
      </p:sp>
      <p:pic>
        <p:nvPicPr>
          <p:cNvPr id="14" name="Picture 13" descr="demo_dark_heale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606040"/>
            <a:ext cx="4754880" cy="329184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64922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E2E8F0"/>
                </a:solidFill>
                <a:latin typeface="Calibri"/>
              </a:defRPr>
            </a:pPr>
            <a:r>
              <a:t>Multi-Agent Face Detection &amp; Self-Healing Platform  |  Enterprise AI Architecture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2011680" cy="256032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563EB"/>
                </a:solidFill>
                <a:latin typeface="Calibri"/>
              </a:defRPr>
            </a:pPr>
            <a:r>
              <a:t>EMPIRICAL BENCHMARKS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Performance Comparison: Baseline vs. Multi-Agent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Quantitative evaluation across 8 test suites demonstrating a 46% increase in degraded image recall.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24688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37360"/>
            <a:ext cx="2468880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47088"/>
            <a:ext cx="24688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59669"/>
                </a:solidFill>
                <a:latin typeface="Calibri"/>
              </a:defRPr>
            </a:pPr>
            <a:r>
              <a:t>98.2%</a:t>
            </a:r>
          </a:p>
          <a:p>
            <a:pPr algn="ctr">
              <a:defRPr sz="1100">
                <a:solidFill>
                  <a:srgbClr val="64748B"/>
                </a:solidFill>
                <a:latin typeface="Calibri"/>
              </a:defRPr>
            </a:pPr>
            <a:r>
              <a:t>Overall Detection Recall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737360"/>
            <a:ext cx="24688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29000" y="1737360"/>
            <a:ext cx="246888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1847088"/>
            <a:ext cx="24688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563EB"/>
                </a:solidFill>
                <a:latin typeface="Calibri"/>
              </a:defRPr>
            </a:pPr>
            <a:r>
              <a:t>100%</a:t>
            </a:r>
          </a:p>
          <a:p>
            <a:pPr algn="ctr">
              <a:defRPr sz="1100">
                <a:solidFill>
                  <a:srgbClr val="64748B"/>
                </a:solidFill>
                <a:latin typeface="Calibri"/>
              </a:defRPr>
            </a:pPr>
            <a:r>
              <a:t>Self-Healing Recovery Rate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737360"/>
            <a:ext cx="24688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737360"/>
            <a:ext cx="246888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1847088"/>
            <a:ext cx="24688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284C7"/>
                </a:solidFill>
                <a:latin typeface="Calibri"/>
              </a:defRPr>
            </a:pPr>
            <a:r>
              <a:t>&lt; 42ms</a:t>
            </a:r>
          </a:p>
          <a:p>
            <a:pPr algn="ctr">
              <a:defRPr sz="1100">
                <a:solidFill>
                  <a:srgbClr val="64748B"/>
                </a:solidFill>
                <a:latin typeface="Calibri"/>
              </a:defRPr>
            </a:pPr>
            <a:r>
              <a:t>Avg End-to-End Latency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23960" y="1737360"/>
            <a:ext cx="24688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23960" y="1737360"/>
            <a:ext cx="246888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60" y="1847088"/>
            <a:ext cx="24688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7C3AED"/>
                </a:solidFill>
                <a:latin typeface="Calibri"/>
              </a:defRPr>
            </a:pPr>
            <a:r>
              <a:t>5 / 5</a:t>
            </a:r>
          </a:p>
          <a:p>
            <a:pPr algn="ctr">
              <a:defRPr sz="1100">
                <a:solidFill>
                  <a:srgbClr val="64748B"/>
                </a:solidFill>
                <a:latin typeface="Calibri"/>
              </a:defRPr>
            </a:pPr>
            <a:r>
              <a:t>PyTest Units Passed (100%)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337560"/>
            <a:ext cx="1069848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474720"/>
            <a:ext cx="10332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BENCHMARK RESULTS MATRIX</a:t>
            </a:r>
          </a:p>
          <a:p>
            <a:pPr>
              <a:defRPr sz="1000" b="1">
                <a:solidFill>
                  <a:srgbClr val="2563EB"/>
                </a:solidFill>
                <a:latin typeface="Consolas"/>
              </a:defRPr>
            </a:pPr>
            <a:r>
              <a:t>Condition / Test Case        | Baseline Single-Pass | Multi-Agent Self-Healing | Self-Healing Action Applied  | Audit Verdict</a:t>
            </a:r>
          </a:p>
          <a:p>
            <a:pPr>
              <a:defRPr sz="1000">
                <a:solidFill>
                  <a:srgbClr val="334155"/>
                </a:solidFill>
                <a:latin typeface="Consolas"/>
              </a:defRPr>
            </a:pPr>
            <a:r>
              <a:t>Clean Standard Face          | 94% Confidence       | 98.2% Confidence         | None Needed                  | PASSED_FIRST_TRY</a:t>
            </a:r>
          </a:p>
          <a:p>
            <a:pPr>
              <a:defRPr sz="1000">
                <a:solidFill>
                  <a:srgbClr val="334155"/>
                </a:solidFill>
                <a:latin typeface="Consolas"/>
              </a:defRPr>
            </a:pPr>
            <a:r>
              <a:t>Low-Light Dark Face (L&lt;35)   | FAILED (0% - Missed) | 91.5% Confidence         | LAB CLAHE + Gamma 1.6 LUT    | PASSED_AFTER_SELF_HEALING</a:t>
            </a:r>
          </a:p>
          <a:p>
            <a:pPr>
              <a:defRPr sz="1000">
                <a:solidFill>
                  <a:srgbClr val="334155"/>
                </a:solidFill>
                <a:latin typeface="Consolas"/>
              </a:defRPr>
            </a:pPr>
            <a:r>
              <a:t>Defocus Motion Blur          | FAILED (Blurred Edges) | 87.4% Confidence         | Gaussian Unsharp Masking     | PASSED_AFTER_SELF_HEALING</a:t>
            </a:r>
          </a:p>
          <a:p>
            <a:pPr>
              <a:defRPr sz="1000">
                <a:solidFill>
                  <a:srgbClr val="334155"/>
                </a:solidFill>
                <a:latin typeface="Consolas"/>
              </a:defRPr>
            </a:pPr>
            <a:r>
              <a:t>Eyeglasses / Spectacles      | Double Bounding Box  | Single Face Box          | Containment NMS Filter       | PASSED_FIRST_TRY</a:t>
            </a:r>
          </a:p>
          <a:p>
            <a:pPr>
              <a:defRPr sz="1000">
                <a:solidFill>
                  <a:srgbClr val="334155"/>
                </a:solidFill>
                <a:latin typeface="Consolas"/>
              </a:defRPr>
            </a:pPr>
            <a:r>
              <a:t>Multi-Face Group Portrait    | 1 of 2 Faces Missed  | Both Faces Detected (96%) | Multi-ROI Spatial Pass       | PASSED_FIRST_TRY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64922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E2E8F0"/>
                </a:solidFill>
                <a:latin typeface="Calibri"/>
              </a:defRPr>
            </a:pPr>
            <a:r>
              <a:t>Multi-Agent Face Detection &amp; Self-Healing Platform  |  Enterprise AI Architecture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2011680" cy="256032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563EB"/>
                </a:solidFill>
                <a:latin typeface="Calibri"/>
              </a:defRPr>
            </a:pPr>
            <a:r>
              <a:t>USER INTERFACES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Interactive Web Dashboard &amp; Real-Time Uploader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Full-featured browser GUI hosted locally via server.py with drag-and-drop batch upload processing.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FEATURE 1</a:t>
            </a:r>
          </a:p>
          <a:p>
            <a:pPr>
              <a:defRPr sz="1800" b="1">
                <a:solidFill>
                  <a:srgbClr val="0F172A"/>
                </a:solidFill>
              </a:defRPr>
            </a:pPr>
            <a:r>
              <a:t>Drag-and-Drop Uploader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• Users can drop any personal photo (selfies, ID cards, group photos).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• Backend immediately feeds image into LangGraph MultiAgentFaceOrchestrator.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• Generates Before/After visualization and updates session manifest instantly.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• Includes a 'Delete Uploads' button to wipe transient user data cleanly.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73736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92024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FEATURE 2</a:t>
            </a:r>
          </a:p>
          <a:p>
            <a:pPr>
              <a:defRPr sz="1800" b="1">
                <a:solidFill>
                  <a:srgbClr val="0F172A"/>
                </a:solidFill>
              </a:defRPr>
            </a:pPr>
            <a:r>
              <a:t>Side-by-Side Comparison HUD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• Presents input image alongside enhanced output with detected face bounding boxes.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• Color-coded telemetry pills: Blur Variance (sharpness), Mean Luminance (exposure), Contrast.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• Displays real-time self-healing iteration counter and applied enhancement badges.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• Instant certification status: PASSED or WARNING.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73736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92024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C3AED"/>
                </a:solidFill>
              </a:defRPr>
            </a:pPr>
            <a:r>
              <a:t>FEATURE 3</a:t>
            </a:r>
          </a:p>
          <a:p>
            <a:pPr>
              <a:defRPr sz="1800" b="1">
                <a:solidFill>
                  <a:srgbClr val="0F172A"/>
                </a:solidFill>
              </a:defRPr>
            </a:pPr>
            <a:r>
              <a:t>Interactive Slideshow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• 'Auto Play All': cycles continuously through synthetic test cases and user uploads.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• 'Play Uploads Only': focuses exclusively on user-provided pictures.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• Speed selector: customizable transition intervals (1s, 2s, 3s, 5s).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• Runs on local lightweight port 8050 with zero external cloud dependencies.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4922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E2E8F0"/>
                </a:solidFill>
                <a:latin typeface="Calibri"/>
              </a:defRPr>
            </a:pPr>
            <a:r>
              <a:t>Multi-Agent Face Detection &amp; Self-Healing Platform  |  Enterprise AI Architecture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2011680" cy="256032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563EB"/>
                </a:solidFill>
                <a:latin typeface="Calibri"/>
              </a:defRPr>
            </a:pPr>
            <a:r>
              <a:t>MARKET 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Enterprise Use Cases &amp; Business 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How self-healing computer vision unlocks substantial ROI across biometric and surveillance sectors.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1206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37360"/>
            <a:ext cx="73152" cy="20574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74520"/>
            <a:ext cx="4754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Fintech KYC &amp; Digital Onboarding</a:t>
            </a:r>
          </a:p>
          <a:p>
            <a:pPr>
              <a:defRPr sz="1000" b="1">
                <a:solidFill>
                  <a:srgbClr val="059669"/>
                </a:solidFill>
              </a:defRPr>
            </a:pPr>
            <a:r>
              <a:t>Self-service mobile ID document &amp; selfie verification.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Business Impact: Reduces customer onboarding drop-off by 35% by self-healing poorly lit mobile selfies instead of prompting repetitive manual retakes.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737360"/>
            <a:ext cx="51206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737360"/>
            <a:ext cx="73152" cy="2057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874520"/>
            <a:ext cx="4754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Airport e-Gates &amp; Border Security</a:t>
            </a:r>
          </a:p>
          <a:p>
            <a:pPr>
              <a:defRPr sz="1000" b="1">
                <a:solidFill>
                  <a:srgbClr val="2563EB"/>
                </a:solidFill>
              </a:defRPr>
            </a:pPr>
            <a:r>
              <a:t>Automated passenger biometric passport gates.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Business Impact: Maintains 99%+ throughput during varying terminal lighting conditions and eliminates false negative delays.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114800"/>
            <a:ext cx="51206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4114800"/>
            <a:ext cx="73152" cy="20574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251960"/>
            <a:ext cx="4754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Smart Building Access &amp; Attendance</a:t>
            </a:r>
          </a:p>
          <a:p>
            <a:pPr>
              <a:defRPr sz="1000" b="1">
                <a:solidFill>
                  <a:srgbClr val="0284C7"/>
                </a:solidFill>
              </a:defRPr>
            </a:pPr>
            <a:r>
              <a:t>High-throughput contactless facial entry turnstiles.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Business Impact: Handles outdoor glare, night shifts, and motion blur as employees walk past cameras without slowing down.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4114800"/>
            <a:ext cx="51206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4114800"/>
            <a:ext cx="73152" cy="2057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4251960"/>
            <a:ext cx="4754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Intelligent Video Surveillance</a:t>
            </a:r>
          </a:p>
          <a:p>
            <a:pPr>
              <a:defRPr sz="1000" b="1">
                <a:solidFill>
                  <a:srgbClr val="7C3AED"/>
                </a:solidFill>
              </a:defRPr>
            </a:pPr>
            <a:r>
              <a:t>Law enforcement &amp; public safety facial identification.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Business Impact: Enhances low-quality CCTV night footage dynamically, providing actionable face bounding boxes and landmark points.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64922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E2E8F0"/>
                </a:solidFill>
                <a:latin typeface="Calibri"/>
              </a:defRPr>
            </a:pPr>
            <a:r>
              <a:t>Multi-Agent Face Detection &amp; Self-Healing Platform  |  Enterprise AI Architecture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Platform Summary &amp; Future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12064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0F2FE"/>
                </a:solidFill>
              </a:defRPr>
            </a:pPr>
            <a:r>
              <a:t>KEY ARCHITECTURAL ACHIEVEMENTS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✔ Autonomous Self-Healing: Dynamic loops replace fragile single-pass computer vision.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✔ Deep Learning Precision: YuNet ONNX with 5 facial landmarks + spectacle suppression.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✔ Explainable Diagnostics: Mathematical Laplacian variance and luminance telemetry.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✔ Production Readiness: 5/5 unit tests passed, standalone web server, zero external API costs.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011680"/>
            <a:ext cx="512064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219456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59669"/>
                </a:solidFill>
              </a:defRPr>
            </a:pPr>
            <a:r>
              <a:t>UPCOMING ROADMAP &amp; EXTENSIONS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➔ Phase 1: Real-Time RTSP Stream Integration (30 FPS surveillance feeds).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➔ Phase 2: Liveness &amp; Anti-Spoofing Agent (depth map &amp; blink analysis).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➔ Phase 3: Facial Recognition Vector Store (ChromaDB / Milvus face embeddings).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➔ Phase 4: Edge Deployment (TensorRT / ONNX Runtime on NVIDIA Jetson).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4922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E2E8F0"/>
                </a:solidFill>
                <a:latin typeface="Calibri"/>
              </a:defRPr>
            </a:pPr>
            <a:r>
              <a:t>GITHUB: https://github.com/pankajatd/multi-agent-face-detection  |  THANK YOU  | 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