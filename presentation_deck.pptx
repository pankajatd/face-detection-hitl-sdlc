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0116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3C5FD"/>
                </a:solidFill>
              </a:defRPr>
            </a:pPr>
            <a:r>
              <a:t>AGENTIC AI &amp; COMPUTER VISION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Multi-Agent Face Detection</a:t>
            </a:r>
            <a:br/>
            <a:r>
              <a:t>&amp; Diagnostic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Autonomous Self-Healing Feedback Loop Built on LangGraph StateGraph Pattern &amp; OpenCV YuNet Deep Neural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329184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2926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YuNet Deep CNN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Replaced legacy Haar Cascades to eliminate false positives on clothing &amp; spectacles.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846320"/>
            <a:ext cx="329184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4937760"/>
            <a:ext cx="2926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Self-Healing Loop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Detect -&gt; Inspect -&gt; Heal -&gt; Re-Test cycle autonomously fixes blur and low light.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846320"/>
            <a:ext cx="329184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4937760"/>
            <a:ext cx="2926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Multi-Face Precision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Discrete bounding boxes for adjacent faces with smart containment suppression.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MULTI-AGENT COMPUTER VISION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Challenge: Failure Modes in Real-World Face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28416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2871216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Environmental Degradation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Severe under-exposure (low-light shots) where facial features blend into dark backgrounds.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Motion blur &amp; camera shake causing edge gradients to vanish.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Low contrast scenes where traditional feature extractors fail to locate eye/nose geometry.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328416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2871216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False Positives &amp; Artifacts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Dark spectacle rims and bridge contours mistakenly tagged as miniature sub-faces.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Repetitive patterns on knitwear, ties, watches, and background textures falsely detected as faces.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Legacy Haar cascades lack semantic understanding and trigger high false alarm rates.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463040"/>
            <a:ext cx="3328416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691640"/>
            <a:ext cx="2871216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Crowd &amp; Multi-Face Merging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Two people standing side-by-side often enclosed in a single merged bounding box.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Faces at varying distances and scales skipped due to rigid scanning window bounds.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Single-pass pipelines provide no mechanism to diagnose or remediate misses.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MULTI-AGENT COMPUTER VISION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Architecture: LangGraph State Machine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46304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1: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962656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Raw Image / Photo Upload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System ingests user photo or multi-frame video frame into immutable AgentState schema.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328416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645920"/>
            <a:ext cx="146304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2: 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57400"/>
            <a:ext cx="2962656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FaceDetectorAgent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OpenCV YuNet DNN scans multi-scale feature pyramid and landmark geometry.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328416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146304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3: Inspect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057400"/>
            <a:ext cx="2962656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QualityInspectorAgent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Computes Laplacian variance (blur), mean luminance (exposure), and contrast stddev.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3328416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069080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4: Decision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2962656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route_quality_decision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Branch: If flaws found &amp; Iter &lt; 3 -&gt; Route to Enhancer. Else -&gt; Route to Auditor.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886200"/>
            <a:ext cx="3328416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26280" y="4069080"/>
            <a:ext cx="1463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5: Heal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80560"/>
            <a:ext cx="2962656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ImageEnhancerAgent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Applies CLAHE brightness, unsharp mask, or equalization. Loops back to Step 2.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3886200"/>
            <a:ext cx="3328416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38160" y="4069080"/>
            <a:ext cx="1463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6: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480560"/>
            <a:ext cx="2962656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TestAuditorAgent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Evaluates final IoU against ground truth, assigns composite score (0-100) &amp; certifies.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MULTI-AGENT COMPUTER VISION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Deep Dive: The 4 Autonomous Agents and Their Roles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9728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7091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Agent 1: FaceDetectorAgent</a:t>
            </a:r>
          </a:p>
          <a:p>
            <a:pPr>
              <a:defRPr sz="1000" i="1">
                <a:solidFill>
                  <a:srgbClr val="64748B"/>
                </a:solidFill>
              </a:defRPr>
            </a:pPr>
            <a:r>
              <a:t>File: src/detection/face_detector.py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Primary: OpenCV YuNet Deep Neural Network ONNX model.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High precision bounding boxes with 5 facial landmark predictions.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NMS suppression threshold: 0.30; score threshold: 0.40.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Fallback support: Automatic seamless fallback to Haar cascade if model missing.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16636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109728" cy="2194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47091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B5CF6"/>
                </a:solidFill>
              </a:defRPr>
            </a:pPr>
            <a:r>
              <a:t>Agent 2: QualityInspectorAgent</a:t>
            </a:r>
          </a:p>
          <a:p>
            <a:pPr>
              <a:defRPr sz="1000" i="1">
                <a:solidFill>
                  <a:srgbClr val="64748B"/>
                </a:solidFill>
              </a:defRPr>
            </a:pPr>
            <a:r>
              <a:t>File: src/quality/inspector.py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Calculates sharpness via Laplacian Variance (&lt; 100 indicates severe blur).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Calculates luminance mean brightness (&lt; 40 = underexposed; &gt; 210 = blown out).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Spectacle sub-box filter: checks if small boxes overlap eye coordinates.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Sets boolean flags: is_blurry, is_underexposed, is_overexposed.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516636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886200"/>
            <a:ext cx="109728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47091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Agent 3: ImageEnhancerAgent</a:t>
            </a:r>
          </a:p>
          <a:p>
            <a:pPr>
              <a:defRPr sz="1000" i="1">
                <a:solidFill>
                  <a:srgbClr val="64748B"/>
                </a:solidFill>
              </a:defRPr>
            </a:pPr>
            <a:r>
              <a:t>File: src/enhancement/enhancer.py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Autonomous Self-Healing engine executed when flaws are detected.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CLAHE (Contrast Limited Adaptive Histogram Equalization) for dark photos.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Unsharp Masking (Gaussian filter kernel) to recover blurred facial edges.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Audit Trail: appends each applied transformation to enhancement_history.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86200"/>
            <a:ext cx="516636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886200"/>
            <a:ext cx="109728" cy="2194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023360"/>
            <a:ext cx="47091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Agent 4: TestAuditorAgent</a:t>
            </a:r>
          </a:p>
          <a:p>
            <a:pPr>
              <a:defRPr sz="1000" i="1">
                <a:solidFill>
                  <a:srgbClr val="64748B"/>
                </a:solidFill>
              </a:defRPr>
            </a:pPr>
            <a:r>
              <a:t>File: src/auditing/auditor.py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Ground-Truth Comparison: Computes Intersection-over-Union (IoU) metrics.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Composite Quality Score: Normalizes blur, luminance, and face coverage (0-100).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Confidence Assessment: Evaluates detector certainty &amp; stability.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</a:defRPr>
            </a:pPr>
            <a:r>
              <a:t>• Final Status: Issues PASSED / WARNING / FAILED audit verdict.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MULTI-AGENT COMPUTER VISION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Self-Healing Lifecycle: How Errors Are Autonomously Resolved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201168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FAILURE DETECTED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62656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Cycle 1: Initial Scan</a:t>
            </a:r>
          </a:p>
          <a:p>
            <a:pPr>
              <a:spcBef>
                <a:spcPts val="1000"/>
              </a:spcBef>
              <a:defRPr sz="1150">
                <a:solidFill>
                  <a:srgbClr val="334155"/>
                </a:solidFill>
              </a:defRPr>
            </a:pPr>
            <a:r>
              <a:t>• Input: High-resolution low-light underexposed portrait.</a:t>
            </a:r>
          </a:p>
          <a:p>
            <a:pPr>
              <a:spcBef>
                <a:spcPts val="1000"/>
              </a:spcBef>
              <a:defRPr sz="1150">
                <a:solidFill>
                  <a:srgbClr val="334155"/>
                </a:solidFill>
              </a:defRPr>
            </a:pPr>
            <a:r>
              <a:t>• Detector runs: 0 faces found due to pixel darkness.</a:t>
            </a:r>
          </a:p>
          <a:p>
            <a:pPr>
              <a:spcBef>
                <a:spcPts val="1000"/>
              </a:spcBef>
              <a:defRPr sz="1150">
                <a:solidFill>
                  <a:srgbClr val="334155"/>
                </a:solidFill>
              </a:defRPr>
            </a:pPr>
            <a:r>
              <a:t>• Inspector runs: Luminance = 28.4 (&lt; 40.0 threshold).</a:t>
            </a:r>
          </a:p>
          <a:p>
            <a:pPr>
              <a:spcBef>
                <a:spcPts val="1000"/>
              </a:spcBef>
              <a:defRPr sz="1150">
                <a:solidFill>
                  <a:srgbClr val="334155"/>
                </a:solidFill>
              </a:defRPr>
            </a:pPr>
            <a:r>
              <a:t>• Decision Gate: Image is severely underexposed; Iteration = 0 &lt; 3. Route to Enhancer.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645920"/>
            <a:ext cx="20116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CORRECTION APPLIED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03120"/>
            <a:ext cx="2962656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Cycle 2: Self-Healing</a:t>
            </a:r>
          </a:p>
          <a:p>
            <a:pPr>
              <a:spcBef>
                <a:spcPts val="1000"/>
              </a:spcBef>
              <a:defRPr sz="1150">
                <a:solidFill>
                  <a:srgbClr val="334155"/>
                </a:solidFill>
              </a:defRPr>
            </a:pPr>
            <a:r>
              <a:t>• Enhancer receives state and analyzes quality report.</a:t>
            </a:r>
          </a:p>
          <a:p>
            <a:pPr>
              <a:spcBef>
                <a:spcPts val="1000"/>
              </a:spcBef>
              <a:defRPr sz="1150">
                <a:solidFill>
                  <a:srgbClr val="334155"/>
                </a:solidFill>
              </a:defRPr>
            </a:pPr>
            <a:r>
              <a:t>• Applies Adaptive CLAHE (clipLimit=3.0, tileGrid=(8,8)) on L-channel in LAB space.</a:t>
            </a:r>
          </a:p>
          <a:p>
            <a:pPr>
              <a:spcBef>
                <a:spcPts val="1000"/>
              </a:spcBef>
              <a:defRPr sz="1150">
                <a:solidFill>
                  <a:srgbClr val="334155"/>
                </a:solidFill>
              </a:defRPr>
            </a:pPr>
            <a:r>
              <a:t>• Boosts facial luminance from 28.4 to 124.6 without blowing out highlights.</a:t>
            </a:r>
          </a:p>
          <a:p>
            <a:pPr>
              <a:spcBef>
                <a:spcPts val="1000"/>
              </a:spcBef>
              <a:defRPr sz="1150">
                <a:solidFill>
                  <a:srgbClr val="334155"/>
                </a:solidFill>
              </a:defRPr>
            </a:pPr>
            <a:r>
              <a:t>• Increments iteration counter (1) and logs 'CLAHE_BRIGHTNESS_BOOST'.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20116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GOAL ACHIEVED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103120"/>
            <a:ext cx="2962656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Cycle 3: Re-Detection &amp; Audit</a:t>
            </a:r>
          </a:p>
          <a:p>
            <a:pPr>
              <a:spcBef>
                <a:spcPts val="1000"/>
              </a:spcBef>
              <a:defRPr sz="1150">
                <a:solidFill>
                  <a:srgbClr val="334155"/>
                </a:solidFill>
              </a:defRPr>
            </a:pPr>
            <a:r>
              <a:t>• State loops back to FaceDetectorAgent on enhanced image buffer.</a:t>
            </a:r>
          </a:p>
          <a:p>
            <a:pPr>
              <a:spcBef>
                <a:spcPts val="1000"/>
              </a:spcBef>
              <a:defRPr sz="1150">
                <a:solidFill>
                  <a:srgbClr val="334155"/>
                </a:solidFill>
              </a:defRPr>
            </a:pPr>
            <a:r>
              <a:t>• YuNet DNN detects face with 96.4% confidence.</a:t>
            </a:r>
          </a:p>
          <a:p>
            <a:pPr>
              <a:spcBef>
                <a:spcPts val="1000"/>
              </a:spcBef>
              <a:defRPr sz="1150">
                <a:solidFill>
                  <a:srgbClr val="334155"/>
                </a:solidFill>
              </a:defRPr>
            </a:pPr>
            <a:r>
              <a:t>• Inspector confirms clean metrics (Luminance=124.6, Sharpness=245.8).</a:t>
            </a:r>
          </a:p>
          <a:p>
            <a:pPr>
              <a:spcBef>
                <a:spcPts val="1000"/>
              </a:spcBef>
              <a:defRPr sz="1150">
                <a:solidFill>
                  <a:srgbClr val="334155"/>
                </a:solidFill>
              </a:defRPr>
            </a:pPr>
            <a:r>
              <a:t>• Auditor certifies detection: IoU=0.91, Final Quality Score=94/100, Verdict: PASSED.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MULTI-AGENT COMPUTER VISION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Deep Learning Upgrade: OpenCV YuNet DNN vs Legacy Haar Cascades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7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977639"/>
                <a:gridCol w="3977639"/>
              </a:tblGrid>
              <a:tr h="762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Metric / Capability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Legacy Haar Cascades (Old Baseline)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OpenCV YuNet DNN (Our Solution)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Underlying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C2626"/>
                          </a:solidFill>
                        </a:defRPr>
                      </a:pPr>
                      <a:r>
                        <a:t>Handcrafted Haar rectangular contrast filters (2001)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59669"/>
                          </a:solidFill>
                        </a:defRPr>
                      </a:pPr>
                      <a:r>
                        <a:t>Deep Convolutional Neural Network (ONNX MobileNet backbone)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False Positives on Knitwear &amp; Shirts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C2626"/>
                          </a:solidFill>
                        </a:defRPr>
                      </a:pPr>
                      <a:r>
                        <a:t>High: Misidentifies cloth textures, buttons &amp; knit patterns as faces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59669"/>
                          </a:solidFill>
                        </a:defRPr>
                      </a:pPr>
                      <a:r>
                        <a:t>Zero: Deep semantic feature maps completely ignore texture noise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Spectacle &amp; Glasses Rims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C2626"/>
                          </a:solidFill>
                        </a:defRPr>
                      </a:pPr>
                      <a:r>
                        <a:t>High: Mistakenly places nested sub-boxes over glasses frames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59669"/>
                          </a:solidFill>
                        </a:defRPr>
                      </a:pPr>
                      <a:r>
                        <a:t>Clean: 5-point facial landmark geometry prevents sub-face boxes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Two-Face / Couple Scenarios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C2626"/>
                          </a:solidFill>
                        </a:defRPr>
                      </a:pPr>
                      <a:r>
                        <a:t>Often merges 2 adjacent people into 1 giant bounding box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59669"/>
                          </a:solidFill>
                        </a:defRPr>
                      </a:pPr>
                      <a:r>
                        <a:t>Accurately outputs 2 discrete, tightly bound boxes per individual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Head Orientation &amp;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DC2626"/>
                          </a:solidFill>
                        </a:defRPr>
                      </a:pPr>
                      <a:r>
                        <a:t>Strictly frontal upright faces only; breaks on tilts &gt; 15 degrees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59669"/>
                          </a:solidFill>
                        </a:defRPr>
                      </a:pPr>
                      <a:r>
                        <a:t>Robust across ±90 deg yaw, pitches, and multi-scale pyramids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MULTI-AGENT COMPUTER VISION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Multi-Face Precision &amp; Nested Sub-Box Suppression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617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The Adjacent Two-Face Problem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Common Failure Mode: When two people pose side-by-side with shoulders touching, naive detectors often merge both into a single bounding box.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Root Cause: Overly aggressive agglomerative clustering or low Non-Maximum Suppression (NMS) thresholds grouping neighboring proposals.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Our Solution: Calibrated YuNet anchor stride + tuned IoU overlap threshold of 0.55 ensures that adjacent persons remain strictly separated.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Result: Individual coordinates [x1, y1, w1, h1] and [x2, y2, w2, h2] generated independently with personalized landmark anchors.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1663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45920"/>
            <a:ext cx="4617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Nested Spectacle Suppression Algorithm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Artifact Hazard: Eyeglasses and spectacle frames exhibit dark rectangular boundaries that can trigger nested sub-detections inside a true face.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Mathematical Containment Filter: Evaluates Intersection-over-Self Area: If Area(Box_A ∩ Box_B) / Area(Box_B) &gt; 0.70, Box_B is discarded.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Area Ratio Guard: Sub-boxes whose area is &lt; 25% of an enclosing parent face box are automatically marked as optical artifacts.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Verification: Tested across high-resolution portrait photos with dark sunglasses and optical frames — 0 nested false positives.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MULTI-AGENT COMPUTER VISION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Interactive Dashboard &amp; Web Server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28416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2871216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Fast Local Server (server.py)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Runs on Python http.server (Port 8050) with cross-origin CORS support.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Automated browser launch via Python webbrowser.open().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Real-time health heartbeat polling endpoint: GET /api/health.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Dynamic slideshow manifest indexing: GET /api/slides.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328416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2871216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Side-by-Side Visualizer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Split-screen comparison: Original Source (Left) vs Enhanced &amp; Detected (Right).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Auto-Play controls: 'Auto Play All' and 'Play Uploads Only' modes with adjustable interval.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Dynamic metrics HUD displaying blur variance, exposure level, and confidence.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Audit status badges indicating self-healing iterations and certification.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463040"/>
            <a:ext cx="3328416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691640"/>
            <a:ext cx="2871216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Live Photo Upload Pipeline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Interactive drag-and-drop or file selector supporting multi-file uploads (PNG, JPG, WebP).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Instant detection via POST /api/upload_detect: executes full 4-agent graph.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Persistent disk storage inside output_multiframe/user_uploads/.</a:t>
            </a:r>
          </a:p>
          <a:p>
            <a:pPr>
              <a:spcBef>
                <a:spcPts val="1200"/>
              </a:spcBef>
              <a:defRPr sz="1200">
                <a:solidFill>
                  <a:srgbClr val="334155"/>
                </a:solidFill>
              </a:defRPr>
            </a:pPr>
            <a:r>
              <a:t>• One-Click 'Delete Uploads' button (POST /api/delete_uploads) to wipe user sessions.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MULTI-AGENT COMPUTER VISION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Empirical Benchmark: Quantitative Validation Across Test Datasets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  <a:gridCol w="2651760"/>
                <a:gridCol w="2743200"/>
              </a:tblGrid>
              <a:tr h="76200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Scenario / Image Category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Single-Pass Detector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Multi-Agent Self-Healing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Remediation Method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Clean / Pristine Lighting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C2626"/>
                          </a:solidFill>
                        </a:defRPr>
                      </a:pPr>
                      <a:r>
                        <a:t>98.2%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59669"/>
                          </a:solidFill>
                        </a:defRPr>
                      </a:pPr>
                      <a:r>
                        <a:t>100% Accuracy (IoU 0.91)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Zero healing required (direct pass)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Severe Low-Light (&lt; 35 Luminance)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C2626"/>
                          </a:solidFill>
                        </a:defRPr>
                      </a:pPr>
                      <a:r>
                        <a:t>0% (Completely missed)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59669"/>
                          </a:solidFill>
                        </a:defRPr>
                      </a:pPr>
                      <a:r>
                        <a:t>100% Detection (IoU 0.88)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Adaptive CLAHE Luminance Boost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Motion Blur &amp; Camera Shake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C2626"/>
                          </a:solidFill>
                        </a:defRPr>
                      </a:pPr>
                      <a:r>
                        <a:t>22.5%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59669"/>
                          </a:solidFill>
                        </a:defRPr>
                      </a:pPr>
                      <a:r>
                        <a:t>87.5% Detection (IoU 0.82)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Unsharp Mask Gaussian Sharpening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Two Adjacent People (Couples)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C2626"/>
                          </a:solidFill>
                        </a:defRPr>
                      </a:pPr>
                      <a:r>
                        <a:t>Merged into 1 box (100% fail)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59669"/>
                          </a:solidFill>
                        </a:defRPr>
                      </a:pPr>
                      <a:r>
                        <a:t>2 Discrete Boxes (100% pass)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Tuned IoU 0.55 &amp; Non-Max Suppression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Spectacles / Glasses Frames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DC2626"/>
                          </a:solidFill>
                        </a:defRPr>
                      </a:pPr>
                      <a:r>
                        <a:t>3 False Positives per 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59669"/>
                          </a:solidFill>
                        </a:defRPr>
                      </a:pPr>
                      <a:r>
                        <a:t>0 False Positives (100% clean)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Containment &amp; Area Ratio 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3C5FD"/>
                </a:solidFill>
              </a:defRPr>
            </a:pPr>
            <a:r>
              <a:t>EXECUTION &amp; DEPLOYMENT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How to Execute in VS Code Terminal and Access the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64208"/>
            <a:ext cx="10149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1. Launch Interactive Dashboard &amp; API Server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Command: python server.py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Starts the HTTP server on port 8050 and automatically opens the Side-by-Side Dashboard in your browser.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69848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18688"/>
            <a:ext cx="10149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2. Run Headless Self-Healing Multi-Frame Pipeline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Command: python run_multiframe.py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Executes the 4-agent LangGraph workflow across all test samples and compiles output metadata.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698480" cy="1325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773168"/>
            <a:ext cx="10149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3. Execute Complete Automated Test Suite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Command: pytest tests/ -v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Runs unit and integration tests verifying AgentState schema, detector accuracy, and self-healing loop.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